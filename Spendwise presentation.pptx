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22002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51932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38987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54560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97505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608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07838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1916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9102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16301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5877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96615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9656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95317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11723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45711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5B39B-C880-4FDE-B74A-BB442B7F8351}" type="datetimeFigureOut">
              <a:rPr lang="ar-SA" smtClean="0"/>
              <a:t>14/01/1448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817EFCF-A6EE-4EB4-893A-7D557B5C2E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8913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95F6-BB0F-CE7A-5118-8301EAC2F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043" y="1332470"/>
            <a:ext cx="7672792" cy="2096530"/>
          </a:xfrm>
        </p:spPr>
        <p:txBody>
          <a:bodyPr>
            <a:normAutofit/>
          </a:bodyPr>
          <a:lstStyle/>
          <a:p>
            <a:pPr algn="l" rtl="0"/>
            <a:r>
              <a:rPr lang="ar-SA" b="1" dirty="0"/>
              <a:t>SpendWise</a:t>
            </a:r>
            <a:br>
              <a:rPr lang="ar-SA" b="1" dirty="0"/>
            </a:br>
            <a:r>
              <a:rPr lang="ar-SA" sz="3600" b="1" dirty="0"/>
              <a:t>Intelligent Personal Finance Management System</a:t>
            </a:r>
            <a:endParaRPr lang="ar-S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C87EC-F8B6-6B81-3EC5-72F7D50BD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5043" y="3576919"/>
            <a:ext cx="3414557" cy="2423742"/>
          </a:xfrm>
        </p:spPr>
        <p:txBody>
          <a:bodyPr>
            <a:normAutofit/>
          </a:bodyPr>
          <a:lstStyle/>
          <a:p>
            <a:pPr algn="l" rtl="0"/>
            <a:r>
              <a:rPr lang="ar-SA" dirty="0"/>
              <a:t>Graduation Project</a:t>
            </a:r>
          </a:p>
          <a:p>
            <a:pPr algn="l" rtl="0"/>
            <a:r>
              <a:rPr lang="ar-SA" dirty="0"/>
              <a:t>Prepared by: Khaled Ayoub </a:t>
            </a:r>
          </a:p>
          <a:p>
            <a:pPr algn="l" rtl="0"/>
            <a:r>
              <a:rPr lang="ar-SA" dirty="0"/>
              <a:t>Supervisor :</a:t>
            </a:r>
            <a:r>
              <a:rPr lang="en-US" dirty="0"/>
              <a:t>Dr. Raed Bulbul</a:t>
            </a:r>
            <a:endParaRPr lang="ar-SA" dirty="0"/>
          </a:p>
          <a:p>
            <a:pPr algn="l" rtl="0"/>
            <a:r>
              <a:rPr lang="ar-SA" dirty="0"/>
              <a:t>Department:</a:t>
            </a:r>
            <a:r>
              <a:rPr lang="en-US" dirty="0"/>
              <a:t>IT </a:t>
            </a:r>
          </a:p>
          <a:p>
            <a:pPr algn="l" rtl="0"/>
            <a:r>
              <a:rPr lang="ar-SA" dirty="0"/>
              <a:t>University: </a:t>
            </a:r>
            <a:r>
              <a:rPr lang="en-US" dirty="0"/>
              <a:t>Al-Aqsa </a:t>
            </a:r>
            <a:r>
              <a:rPr lang="ar-SA" dirty="0"/>
              <a:t> </a:t>
            </a:r>
          </a:p>
          <a:p>
            <a:pPr algn="l" rtl="0"/>
            <a:r>
              <a:rPr lang="ar-SA" dirty="0"/>
              <a:t>Year2026 :</a:t>
            </a:r>
          </a:p>
        </p:txBody>
      </p:sp>
    </p:spTree>
    <p:extLst>
      <p:ext uri="{BB962C8B-B14F-4D97-AF65-F5344CB8AC3E}">
        <p14:creationId xmlns:p14="http://schemas.microsoft.com/office/powerpoint/2010/main" val="337429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1478D-9325-0393-3694-932BC344A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ar-SA" dirty="0"/>
              <a:t>Project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3B927-5516-0E1B-05F3-C17CB8766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786219" cy="3880773"/>
          </a:xfrm>
        </p:spPr>
        <p:txBody>
          <a:bodyPr/>
          <a:lstStyle/>
          <a:p>
            <a:pPr algn="l" rtl="0"/>
            <a:r>
              <a:rPr lang="ar-SA" dirty="0"/>
              <a:t>Increasing digital expenses. </a:t>
            </a:r>
          </a:p>
          <a:p>
            <a:pPr algn="l" rtl="0"/>
            <a:r>
              <a:rPr lang="ar-SA" dirty="0"/>
              <a:t>Difficulty tracking subscriptions. </a:t>
            </a:r>
          </a:p>
          <a:p>
            <a:pPr algn="l" rtl="0"/>
            <a:r>
              <a:rPr lang="ar-SA" dirty="0"/>
              <a:t>Lack of financial awareness. </a:t>
            </a:r>
          </a:p>
          <a:p>
            <a:pPr algn="l" rtl="0"/>
            <a:r>
              <a:rPr lang="ar-SA" dirty="0"/>
              <a:t>Existing applications depend on Internet. </a:t>
            </a:r>
          </a:p>
          <a:p>
            <a:pPr algn="l" rtl="0"/>
            <a:r>
              <a:rPr lang="ar-SA" dirty="0"/>
              <a:t>Need for intelligent offline financial management.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EBC6B9-92D4-9CB6-41EA-BB453A862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799" y="743221"/>
            <a:ext cx="2702203" cy="529814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0802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51048-B5F1-20A7-5FD2-EA095FD9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ar-SA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11F51-5483-9AFC-1679-63831BFC2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418666" cy="2259011"/>
          </a:xfrm>
        </p:spPr>
        <p:txBody>
          <a:bodyPr/>
          <a:lstStyle/>
          <a:p>
            <a:pPr algn="l" rtl="0"/>
            <a:r>
              <a:rPr lang="ar-SA" dirty="0"/>
              <a:t>Manual expense tracking is inefficient. </a:t>
            </a:r>
          </a:p>
          <a:p>
            <a:pPr algn="l" rtl="0"/>
            <a:r>
              <a:rPr lang="ar-SA" dirty="0"/>
              <a:t>Existing applications are complicated. </a:t>
            </a:r>
          </a:p>
          <a:p>
            <a:pPr algn="l" rtl="0"/>
            <a:r>
              <a:rPr lang="ar-SA" dirty="0"/>
              <a:t>Heavy dependence on cloud services. </a:t>
            </a:r>
          </a:p>
          <a:p>
            <a:pPr algn="l" rtl="0"/>
            <a:r>
              <a:rPr lang="ar-SA" dirty="0"/>
              <a:t>Privacy concerns. </a:t>
            </a:r>
          </a:p>
          <a:p>
            <a:pPr algn="l" rtl="0"/>
            <a:r>
              <a:rPr lang="ar-SA" dirty="0"/>
              <a:t>No predictive financial assistance.</a:t>
            </a:r>
          </a:p>
        </p:txBody>
      </p:sp>
    </p:spTree>
    <p:extLst>
      <p:ext uri="{BB962C8B-B14F-4D97-AF65-F5344CB8AC3E}">
        <p14:creationId xmlns:p14="http://schemas.microsoft.com/office/powerpoint/2010/main" val="3388984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44257-898A-6040-E755-46F5EADC4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ar-SA" dirty="0"/>
              <a:t>Motivation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89D45-905E-DB98-1C1E-9C368A7A4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178" y="2142660"/>
            <a:ext cx="3935506" cy="2169364"/>
          </a:xfrm>
        </p:spPr>
        <p:txBody>
          <a:bodyPr/>
          <a:lstStyle/>
          <a:p>
            <a:pPr algn="l" rtl="0"/>
            <a:r>
              <a:rPr lang="ar-SA" b="1" dirty="0"/>
              <a:t>Motivation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Help users control spending.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Improve financial awareness.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Offline accessibility.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Privacy protection.</a:t>
            </a:r>
          </a:p>
          <a:p>
            <a:pPr marL="0" indent="0" algn="l" rtl="0">
              <a:buNone/>
            </a:pPr>
            <a:endParaRPr lang="ar-S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8F511D-1507-31DE-7070-CBAB5EEBC442}"/>
              </a:ext>
            </a:extLst>
          </p:cNvPr>
          <p:cNvSpPr txBox="1">
            <a:spLocks/>
          </p:cNvSpPr>
          <p:nvPr/>
        </p:nvSpPr>
        <p:spPr>
          <a:xfrm>
            <a:off x="5338496" y="2142660"/>
            <a:ext cx="3935506" cy="2698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ar-SA" b="1" dirty="0"/>
              <a:t>Objectives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Smart budgeting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AI advisor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Reports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Analytics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Secure synchronization </a:t>
            </a:r>
          </a:p>
          <a:p>
            <a:pPr marL="0" indent="0" algn="l" rtl="0">
              <a:buFont typeface="Wingdings 3" charset="2"/>
              <a:buNone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373924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B1C24-8AB3-556F-8FF5-9ED8DA6E0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ar-SA" dirty="0"/>
              <a:t>Related Work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0DA78C-E1DD-17F3-D6FD-F42B1821C5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0510651"/>
              </p:ext>
            </p:extLst>
          </p:nvPr>
        </p:nvGraphicFramePr>
        <p:xfrm>
          <a:off x="677865" y="2160588"/>
          <a:ext cx="8596310" cy="2225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719262">
                  <a:extLst>
                    <a:ext uri="{9D8B030D-6E8A-4147-A177-3AD203B41FA5}">
                      <a16:colId xmlns:a16="http://schemas.microsoft.com/office/drawing/2014/main" val="1351727570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2584851805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1090359767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1095186517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3796417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Offline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334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ar-SA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ar-SA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ar-SA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ar-SA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Mint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097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ar-SA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ar-SA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ar-SA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ar-SA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YNAB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27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ar-SA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ar-SA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ar-SA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Spendee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58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GoodBudget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35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ar-SA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ar-SA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ar-SA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ar-SA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SpendWise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78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12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4630F-C574-225A-5F54-694E5F5E3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rtl="0"/>
            <a:r>
              <a:rPr lang="ar-SA" b="1" dirty="0"/>
              <a:t>Methodology</a:t>
            </a:r>
            <a:br>
              <a:rPr lang="ar-SA" b="1" dirty="0"/>
            </a:br>
            <a:r>
              <a:rPr lang="ar-SA" dirty="0"/>
              <a:t>XP Lifecycle</a:t>
            </a:r>
            <a:br>
              <a:rPr lang="ar-SA" dirty="0"/>
            </a:br>
            <a:endParaRPr lang="ar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B2ABA-CF0C-E5A1-3DC3-75545A6A5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3475" y="1930400"/>
            <a:ext cx="2092760" cy="3756117"/>
          </a:xfrm>
        </p:spPr>
        <p:txBody>
          <a:bodyPr/>
          <a:lstStyle/>
          <a:p>
            <a:pPr marL="0" indent="0" algn="ctr" rtl="0">
              <a:buNone/>
            </a:pPr>
            <a:r>
              <a:rPr lang="ar-SA" dirty="0"/>
              <a:t>Planning</a:t>
            </a:r>
          </a:p>
          <a:p>
            <a:pPr marL="0" indent="0" algn="ctr" rtl="0">
              <a:buNone/>
            </a:pPr>
            <a:r>
              <a:rPr lang="ar-SA" dirty="0"/>
              <a:t>↓</a:t>
            </a:r>
          </a:p>
          <a:p>
            <a:pPr marL="0" indent="0" algn="ctr" rtl="0">
              <a:buNone/>
            </a:pPr>
            <a:r>
              <a:rPr lang="ar-SA" dirty="0"/>
              <a:t>Design</a:t>
            </a:r>
          </a:p>
          <a:p>
            <a:pPr marL="0" indent="0" algn="ctr" rtl="0">
              <a:buNone/>
            </a:pPr>
            <a:r>
              <a:rPr lang="ar-SA" dirty="0"/>
              <a:t>↓</a:t>
            </a:r>
          </a:p>
          <a:p>
            <a:pPr marL="0" indent="0" algn="ctr" rtl="0">
              <a:buNone/>
            </a:pPr>
            <a:r>
              <a:rPr lang="ar-SA" dirty="0"/>
              <a:t>Implementation</a:t>
            </a:r>
          </a:p>
          <a:p>
            <a:pPr marL="0" indent="0" algn="ctr" rtl="0">
              <a:buNone/>
            </a:pPr>
            <a:r>
              <a:rPr lang="ar-SA" dirty="0"/>
              <a:t>↓</a:t>
            </a:r>
          </a:p>
          <a:p>
            <a:pPr marL="0" indent="0" algn="ctr" rtl="0">
              <a:buNone/>
            </a:pPr>
            <a:r>
              <a:rPr lang="ar-SA" dirty="0"/>
              <a:t>Testing</a:t>
            </a:r>
          </a:p>
          <a:p>
            <a:pPr marL="0" indent="0" algn="ctr" rtl="0">
              <a:buNone/>
            </a:pPr>
            <a:r>
              <a:rPr lang="ar-SA" dirty="0"/>
              <a:t>↓</a:t>
            </a:r>
          </a:p>
          <a:p>
            <a:pPr marL="0" indent="0" algn="ctr" rtl="0">
              <a:buNone/>
            </a:pPr>
            <a:r>
              <a:rPr lang="ar-SA" dirty="0"/>
              <a:t>Deployment</a:t>
            </a:r>
          </a:p>
          <a:p>
            <a:endParaRPr lang="ar-S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B873E9-7C13-254B-E7AA-73028562881D}"/>
              </a:ext>
            </a:extLst>
          </p:cNvPr>
          <p:cNvSpPr txBox="1">
            <a:spLocks/>
          </p:cNvSpPr>
          <p:nvPr/>
        </p:nvSpPr>
        <p:spPr>
          <a:xfrm>
            <a:off x="6603007" y="1924424"/>
            <a:ext cx="2092760" cy="3756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Figure 1.1</a:t>
            </a:r>
            <a:endParaRPr lang="ar-S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E34D4A-8FBE-A195-F269-705ED8C0E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668" y="2492283"/>
            <a:ext cx="5634176" cy="37561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668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8526-4132-15CF-2479-DBF512AFC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ar-SA" dirty="0"/>
              <a:t>System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C603C-E73B-B8D8-DE00-2ADB84744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2783042" cy="3880773"/>
          </a:xfrm>
        </p:spPr>
        <p:txBody>
          <a:bodyPr/>
          <a:lstStyle/>
          <a:p>
            <a:pPr algn="l" rtl="0"/>
            <a:r>
              <a:rPr lang="ar-SA" b="1" dirty="0"/>
              <a:t>User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Register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Login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Manage expenses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Manage income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Reports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Budget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AI Advisor</a:t>
            </a:r>
          </a:p>
          <a:p>
            <a:pPr algn="l" rtl="0"/>
            <a:endParaRPr lang="ar-S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261A1D-BE57-CF6E-A13F-54B0CD725896}"/>
              </a:ext>
            </a:extLst>
          </p:cNvPr>
          <p:cNvSpPr txBox="1">
            <a:spLocks/>
          </p:cNvSpPr>
          <p:nvPr/>
        </p:nvSpPr>
        <p:spPr>
          <a:xfrm>
            <a:off x="5715499" y="2160589"/>
            <a:ext cx="3087842" cy="2259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ar-SA" b="1" dirty="0"/>
              <a:t>Admin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Manage users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Broadcast notifications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Monitor sessions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Dashboard</a:t>
            </a:r>
          </a:p>
          <a:p>
            <a:pPr algn="l" rtl="0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693089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1E059-044C-CD1B-6BE1-8ABA52CDD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75" y="179294"/>
            <a:ext cx="8596668" cy="1320800"/>
          </a:xfrm>
        </p:spPr>
        <p:txBody>
          <a:bodyPr/>
          <a:lstStyle/>
          <a:p>
            <a:pPr rtl="0"/>
            <a:r>
              <a:rPr lang="ar-SA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AFF4A-DFC0-C447-7119-A99EB94DF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5676" y="1010024"/>
            <a:ext cx="2639607" cy="5310094"/>
          </a:xfrm>
        </p:spPr>
        <p:txBody>
          <a:bodyPr>
            <a:normAutofit fontScale="85000" lnSpcReduction="10000"/>
          </a:bodyPr>
          <a:lstStyle/>
          <a:p>
            <a:pPr marL="0" indent="0" algn="ctr" rtl="0">
              <a:buNone/>
            </a:pPr>
            <a:r>
              <a:rPr lang="ar-SA" dirty="0"/>
              <a:t>Flutter App</a:t>
            </a:r>
          </a:p>
          <a:p>
            <a:pPr marL="0" indent="0" algn="ctr" rtl="0">
              <a:buNone/>
            </a:pPr>
            <a:r>
              <a:rPr lang="ar-SA" dirty="0"/>
              <a:t>↓</a:t>
            </a:r>
          </a:p>
          <a:p>
            <a:pPr marL="0" indent="0" algn="ctr" rtl="0">
              <a:buNone/>
            </a:pPr>
            <a:r>
              <a:rPr lang="ar-SA" dirty="0"/>
              <a:t>Presentation Layer</a:t>
            </a:r>
          </a:p>
          <a:p>
            <a:pPr marL="0" indent="0" algn="ctr" rtl="0">
              <a:buNone/>
            </a:pPr>
            <a:r>
              <a:rPr lang="ar-SA" dirty="0"/>
              <a:t>↓</a:t>
            </a:r>
          </a:p>
          <a:p>
            <a:pPr marL="0" indent="0" algn="ctr" rtl="0">
              <a:buNone/>
            </a:pPr>
            <a:r>
              <a:rPr lang="ar-SA" dirty="0"/>
              <a:t>Riverpod</a:t>
            </a:r>
          </a:p>
          <a:p>
            <a:pPr marL="0" indent="0" algn="ctr" rtl="0">
              <a:buNone/>
            </a:pPr>
            <a:r>
              <a:rPr lang="ar-SA" dirty="0"/>
              <a:t>↓</a:t>
            </a:r>
          </a:p>
          <a:p>
            <a:pPr marL="0" indent="0" algn="ctr" rtl="0">
              <a:buNone/>
            </a:pPr>
            <a:r>
              <a:rPr lang="ar-SA" dirty="0"/>
              <a:t>Repository</a:t>
            </a:r>
          </a:p>
          <a:p>
            <a:pPr marL="0" indent="0" algn="ctr" rtl="0">
              <a:buNone/>
            </a:pPr>
            <a:r>
              <a:rPr lang="ar-SA" dirty="0"/>
              <a:t>↓</a:t>
            </a:r>
          </a:p>
          <a:p>
            <a:pPr marL="0" indent="0" algn="ctr" rtl="0">
              <a:buNone/>
            </a:pPr>
            <a:r>
              <a:rPr lang="ar-SA" dirty="0"/>
              <a:t>SQLite</a:t>
            </a:r>
          </a:p>
          <a:p>
            <a:pPr marL="0" indent="0" algn="ctr" rtl="0">
              <a:buNone/>
            </a:pPr>
            <a:r>
              <a:rPr lang="ar-SA" dirty="0"/>
              <a:t>↓</a:t>
            </a:r>
          </a:p>
          <a:p>
            <a:pPr marL="0" indent="0" algn="ctr" rtl="0">
              <a:buNone/>
            </a:pPr>
            <a:r>
              <a:rPr lang="ar-SA" dirty="0"/>
              <a:t>Firebase</a:t>
            </a:r>
          </a:p>
          <a:p>
            <a:pPr marL="0" indent="0" algn="ctr" rtl="0">
              <a:buNone/>
            </a:pPr>
            <a:r>
              <a:rPr lang="ar-SA" dirty="0"/>
              <a:t>↓</a:t>
            </a:r>
          </a:p>
          <a:p>
            <a:pPr marL="0" indent="0" algn="ctr" rtl="0">
              <a:buNone/>
            </a:pPr>
            <a:r>
              <a:rPr lang="ar-SA" dirty="0"/>
              <a:t>Cloud</a:t>
            </a:r>
            <a:endParaRPr lang="en-US" dirty="0"/>
          </a:p>
          <a:p>
            <a:pPr marL="0" indent="0" algn="ctr" rtl="0">
              <a:buNone/>
            </a:pPr>
            <a:endParaRPr lang="en-US" dirty="0"/>
          </a:p>
          <a:p>
            <a:pPr marL="0" indent="0" algn="ctr" rtl="0">
              <a:buNone/>
            </a:pPr>
            <a:endParaRPr lang="en-US" dirty="0"/>
          </a:p>
          <a:p>
            <a:pPr marL="0" indent="0" algn="ctr" rtl="0">
              <a:buNone/>
            </a:pPr>
            <a:r>
              <a:rPr lang="ar-SA" sz="1900" b="1" dirty="0"/>
              <a:t>Local First Architecture</a:t>
            </a:r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58705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512B-72D3-3D41-EB1B-86E0955B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ar-SA" dirty="0"/>
              <a:t>ER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A8B43-246F-C6D9-96D4-F726FDE0D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77884"/>
            <a:ext cx="2962337" cy="1443222"/>
          </a:xfrm>
        </p:spPr>
        <p:txBody>
          <a:bodyPr/>
          <a:lstStyle/>
          <a:p>
            <a:pPr algn="l" rtl="0"/>
            <a:r>
              <a:rPr lang="en-US" dirty="0"/>
              <a:t>Relations between entities</a:t>
            </a:r>
            <a:endParaRPr lang="ar-S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D7278-7E90-D734-3B06-C85FA7453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576" y="430305"/>
            <a:ext cx="5880848" cy="627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294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4002E-AC67-B8DF-5A17-2B65C39A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ar-SA" dirty="0"/>
              <a:t>Sequence Diagram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D29B4DB-50BA-7703-7407-8DEC70F09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61" y="2182676"/>
            <a:ext cx="4903769" cy="28004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87B099-57B4-DB23-9AFC-38B5BAF7D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38539"/>
            <a:ext cx="5578123" cy="27890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3616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DD338-A06D-FEF7-2635-CF68886A3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ar-SA" dirty="0"/>
              <a:t>Technology Stack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7D21FD-1812-1570-AF74-80F08BDD83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3990985"/>
              </p:ext>
            </p:extLst>
          </p:nvPr>
        </p:nvGraphicFramePr>
        <p:xfrm>
          <a:off x="430307" y="2124729"/>
          <a:ext cx="8843868" cy="13817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210967">
                  <a:extLst>
                    <a:ext uri="{9D8B030D-6E8A-4147-A177-3AD203B41FA5}">
                      <a16:colId xmlns:a16="http://schemas.microsoft.com/office/drawing/2014/main" val="624040839"/>
                    </a:ext>
                  </a:extLst>
                </a:gridCol>
                <a:gridCol w="2210967">
                  <a:extLst>
                    <a:ext uri="{9D8B030D-6E8A-4147-A177-3AD203B41FA5}">
                      <a16:colId xmlns:a16="http://schemas.microsoft.com/office/drawing/2014/main" val="275358819"/>
                    </a:ext>
                  </a:extLst>
                </a:gridCol>
                <a:gridCol w="2210967">
                  <a:extLst>
                    <a:ext uri="{9D8B030D-6E8A-4147-A177-3AD203B41FA5}">
                      <a16:colId xmlns:a16="http://schemas.microsoft.com/office/drawing/2014/main" val="2926769154"/>
                    </a:ext>
                  </a:extLst>
                </a:gridCol>
                <a:gridCol w="2210967">
                  <a:extLst>
                    <a:ext uri="{9D8B030D-6E8A-4147-A177-3AD203B41FA5}">
                      <a16:colId xmlns:a16="http://schemas.microsoft.com/office/drawing/2014/main" val="504772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🩵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💙 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💚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🟣 Security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620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Flutter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Firebase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SQLite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SHA-256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305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Dart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Firestore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SharedPreferences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ar-SA" dirty="0"/>
                        <a:t>Local Authentication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1312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91C5B6-5ECD-2829-CEF4-641B4349D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899329"/>
              </p:ext>
            </p:extLst>
          </p:nvPr>
        </p:nvGraphicFramePr>
        <p:xfrm>
          <a:off x="788241" y="3848349"/>
          <a:ext cx="8128000" cy="22910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1297292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02400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6933271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97895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🟠 State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🔵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🟢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⚙️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477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Riverpod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Gemini AI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Clean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263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Chat GPT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Repository Pattern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44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Local-First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316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186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99A0A-5121-0377-90C7-ACB85CDF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ar-SA" dirty="0"/>
              <a:t>Core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A5593-92B1-308F-DA49-46E4175D4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2926478" cy="2312799"/>
          </a:xfrm>
        </p:spPr>
        <p:txBody>
          <a:bodyPr/>
          <a:lstStyle/>
          <a:p>
            <a:pPr algn="l" rtl="0"/>
            <a:r>
              <a:rPr lang="ar-SA" dirty="0"/>
              <a:t>Financial Management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Income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Expense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Wallet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Budget</a:t>
            </a:r>
          </a:p>
          <a:p>
            <a:endParaRPr lang="ar-S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989E0C-4954-37CF-8013-0F428F62D316}"/>
              </a:ext>
            </a:extLst>
          </p:cNvPr>
          <p:cNvSpPr txBox="1">
            <a:spLocks/>
          </p:cNvSpPr>
          <p:nvPr/>
        </p:nvSpPr>
        <p:spPr>
          <a:xfrm>
            <a:off x="5464487" y="2160588"/>
            <a:ext cx="2926478" cy="23127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ar-SA" dirty="0"/>
              <a:t>Smart Features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AI Advisor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Burn Rate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Prediction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Notifications </a:t>
            </a:r>
          </a:p>
          <a:p>
            <a:pPr algn="l" rtl="0">
              <a:buFont typeface="Wingdings" panose="05000000000000000000" pitchFamily="2" charset="2"/>
              <a:buChar char="q"/>
            </a:pPr>
            <a:r>
              <a:rPr lang="ar-SA" dirty="0"/>
              <a:t>Reports</a:t>
            </a:r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698310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E3FE-772B-77AD-ED6C-101A5BDE3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ar-SA" dirty="0"/>
              <a:t>AI Advisor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37DD4-7676-B0B1-A746-86032AC28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2065866" cy="3880773"/>
          </a:xfrm>
        </p:spPr>
        <p:txBody>
          <a:bodyPr>
            <a:normAutofit fontScale="92500" lnSpcReduction="20000"/>
          </a:bodyPr>
          <a:lstStyle/>
          <a:p>
            <a:pPr marL="0" indent="0" algn="ctr" rtl="0">
              <a:buNone/>
            </a:pPr>
            <a:r>
              <a:rPr lang="ar-SA" dirty="0"/>
              <a:t>AI Advisor analyses</a:t>
            </a:r>
          </a:p>
          <a:p>
            <a:pPr marL="0" indent="0" algn="ctr" rtl="0">
              <a:buNone/>
            </a:pPr>
            <a:r>
              <a:rPr lang="ar-SA" dirty="0"/>
              <a:t>↓</a:t>
            </a:r>
          </a:p>
          <a:p>
            <a:pPr marL="0" indent="0" algn="ctr" rtl="0">
              <a:buNone/>
            </a:pPr>
            <a:r>
              <a:rPr lang="ar-SA" dirty="0"/>
              <a:t>Daily spending</a:t>
            </a:r>
          </a:p>
          <a:p>
            <a:pPr marL="0" indent="0" algn="ctr" rtl="0">
              <a:buNone/>
            </a:pPr>
            <a:r>
              <a:rPr lang="ar-SA" dirty="0"/>
              <a:t>↓</a:t>
            </a:r>
          </a:p>
          <a:p>
            <a:pPr marL="0" indent="0" algn="ctr" rtl="0">
              <a:buNone/>
            </a:pPr>
            <a:r>
              <a:rPr lang="ar-SA" dirty="0"/>
              <a:t>Historical behavior</a:t>
            </a:r>
          </a:p>
          <a:p>
            <a:pPr marL="0" indent="0" algn="ctr" rtl="0">
              <a:buNone/>
            </a:pPr>
            <a:r>
              <a:rPr lang="ar-SA" dirty="0"/>
              <a:t>↓</a:t>
            </a:r>
          </a:p>
          <a:p>
            <a:pPr marL="0" indent="0" algn="ctr" rtl="0">
              <a:buNone/>
            </a:pPr>
            <a:r>
              <a:rPr lang="ar-SA" dirty="0"/>
              <a:t>Burn rate</a:t>
            </a:r>
          </a:p>
          <a:p>
            <a:pPr marL="0" indent="0" algn="ctr" rtl="0">
              <a:buNone/>
            </a:pPr>
            <a:r>
              <a:rPr lang="ar-SA" dirty="0"/>
              <a:t>↓</a:t>
            </a:r>
          </a:p>
          <a:p>
            <a:pPr marL="0" indent="0" algn="ctr" rtl="0">
              <a:buNone/>
            </a:pPr>
            <a:r>
              <a:rPr lang="ar-SA" dirty="0"/>
              <a:t>Forecast</a:t>
            </a:r>
          </a:p>
          <a:p>
            <a:pPr marL="0" indent="0" algn="ctr" rtl="0">
              <a:buNone/>
            </a:pPr>
            <a:r>
              <a:rPr lang="ar-SA" dirty="0"/>
              <a:t>↓</a:t>
            </a:r>
          </a:p>
          <a:p>
            <a:pPr marL="0" indent="0" algn="ctr" rtl="0">
              <a:buNone/>
            </a:pPr>
            <a:r>
              <a:rPr lang="ar-SA" dirty="0"/>
              <a:t>Smart recommendations</a:t>
            </a:r>
          </a:p>
          <a:p>
            <a:endParaRPr lang="ar-S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0AF446-7073-F44A-8BEF-7A94ADF8E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120" y="858465"/>
            <a:ext cx="3906371" cy="260424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B8AD05-D019-6767-E26C-6CBD5893F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735" y="1093694"/>
            <a:ext cx="3406433" cy="46706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AA5F65-4E80-7E78-FC72-C3CA780754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369" y="3712588"/>
            <a:ext cx="4563297" cy="243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74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3AB05-B2D8-6B4C-D2DF-CCAB0AC03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ar-SA" dirty="0"/>
              <a:t>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B8BEB-30DC-FAAA-78BD-40573B7EA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258172" cy="2259011"/>
          </a:xfrm>
        </p:spPr>
        <p:txBody>
          <a:bodyPr/>
          <a:lstStyle/>
          <a:p>
            <a:pPr algn="l" rtl="0"/>
            <a:r>
              <a:rPr lang="ar-SA" dirty="0"/>
              <a:t>SHA-256 PIN </a:t>
            </a:r>
          </a:p>
          <a:p>
            <a:pPr algn="l" rtl="0"/>
            <a:r>
              <a:rPr lang="ar-SA" dirty="0"/>
              <a:t>Biometrics </a:t>
            </a:r>
          </a:p>
          <a:p>
            <a:pPr algn="l" rtl="0"/>
            <a:r>
              <a:rPr lang="ar-SA" dirty="0"/>
              <a:t>Firebase Authentication </a:t>
            </a:r>
          </a:p>
          <a:p>
            <a:pPr algn="l" rtl="0"/>
            <a:r>
              <a:rPr lang="ar-SA" dirty="0"/>
              <a:t>Session Validation </a:t>
            </a:r>
          </a:p>
          <a:p>
            <a:pPr algn="l" rtl="0"/>
            <a:r>
              <a:rPr lang="ar-SA" dirty="0"/>
              <a:t>Secure Backup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620B5F-F606-52ED-E0D7-7CD86EFEE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708" y="438571"/>
            <a:ext cx="3406588" cy="19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E3C881-3724-1B65-6331-5EE398E2C5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142" y="2423301"/>
            <a:ext cx="3412154" cy="3566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332292-9B5A-4F7C-1A94-F9A6AFFB91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708" y="438571"/>
            <a:ext cx="3406588" cy="174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261BD9-4C9A-0EEE-F662-C3E5FB6E2D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708" y="2182038"/>
            <a:ext cx="3406588" cy="2320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F582F4-8D44-C4BF-F962-8DE1DAC9A3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708" y="4502901"/>
            <a:ext cx="3406588" cy="129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4C1281-4B33-85BE-7B18-DD2FAE8889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708" y="5778541"/>
            <a:ext cx="3406588" cy="997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1183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7246C-B65C-EA94-89A9-AE6EA4C99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4244290" cy="645831"/>
          </a:xfrm>
        </p:spPr>
        <p:txBody>
          <a:bodyPr/>
          <a:lstStyle/>
          <a:p>
            <a:pPr rtl="0"/>
            <a:r>
              <a:rPr lang="ar-SA" dirty="0"/>
              <a:t>Application Screens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5E9F-DC20-EFDF-51D0-F4F76495B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898" y="1509440"/>
            <a:ext cx="1608666" cy="421246"/>
          </a:xfrm>
        </p:spPr>
        <p:txBody>
          <a:bodyPr/>
          <a:lstStyle/>
          <a:p>
            <a:pPr algn="l" rtl="0"/>
            <a:r>
              <a:rPr lang="ar-SA" dirty="0"/>
              <a:t>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EC7F8-9780-A55D-6090-504A077A0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98" y="2184123"/>
            <a:ext cx="1798562" cy="352639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07EE7-2CF9-9529-CA74-04B3776715D2}"/>
              </a:ext>
            </a:extLst>
          </p:cNvPr>
          <p:cNvSpPr txBox="1">
            <a:spLocks/>
          </p:cNvSpPr>
          <p:nvPr/>
        </p:nvSpPr>
        <p:spPr>
          <a:xfrm>
            <a:off x="2675950" y="1518405"/>
            <a:ext cx="1608666" cy="421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ar-SA" dirty="0"/>
              <a:t>Expense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D9136E-CD56-58E0-C968-CFD03F377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950" y="2108208"/>
            <a:ext cx="1608665" cy="360231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53C96E-E53C-EF1A-487E-725A31C91A4C}"/>
              </a:ext>
            </a:extLst>
          </p:cNvPr>
          <p:cNvSpPr txBox="1">
            <a:spLocks/>
          </p:cNvSpPr>
          <p:nvPr/>
        </p:nvSpPr>
        <p:spPr>
          <a:xfrm>
            <a:off x="4628105" y="1518405"/>
            <a:ext cx="1608666" cy="421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ar-SA" dirty="0"/>
              <a:t>Income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CDB076-2ADF-4997-CB82-4B3D471FC2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105" y="2066550"/>
            <a:ext cx="1533477" cy="360231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CDAA50E-63CC-5B14-156D-607C47ED945A}"/>
              </a:ext>
            </a:extLst>
          </p:cNvPr>
          <p:cNvSpPr txBox="1">
            <a:spLocks/>
          </p:cNvSpPr>
          <p:nvPr/>
        </p:nvSpPr>
        <p:spPr>
          <a:xfrm>
            <a:off x="6505072" y="1506641"/>
            <a:ext cx="1608666" cy="421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ar-SA" dirty="0"/>
              <a:t>Wallet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B3D7EB-A821-4BD6-AED1-1B2154E694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072" y="1983234"/>
            <a:ext cx="1581572" cy="368562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CBB6AB2-2EBC-89C1-3667-1E7791910A32}"/>
              </a:ext>
            </a:extLst>
          </p:cNvPr>
          <p:cNvSpPr txBox="1">
            <a:spLocks/>
          </p:cNvSpPr>
          <p:nvPr/>
        </p:nvSpPr>
        <p:spPr>
          <a:xfrm>
            <a:off x="8430134" y="1518405"/>
            <a:ext cx="1608666" cy="421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ar-SA" dirty="0"/>
              <a:t>Budget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0862D64-F1C4-20D6-C998-4A939AD0B1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34" y="1939651"/>
            <a:ext cx="1581572" cy="3674691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97EE15C-9FA5-93A7-F48F-18E7FA4A7D8B}"/>
              </a:ext>
            </a:extLst>
          </p:cNvPr>
          <p:cNvSpPr txBox="1">
            <a:spLocks/>
          </p:cNvSpPr>
          <p:nvPr/>
        </p:nvSpPr>
        <p:spPr>
          <a:xfrm>
            <a:off x="10355196" y="1506641"/>
            <a:ext cx="1608666" cy="421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ar-SA" dirty="0"/>
              <a:t>Reports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A80351-7FD7-DF2F-9131-24E303E0E4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0007" y="1939651"/>
            <a:ext cx="1656762" cy="373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871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B260C-A8B6-6B9E-2201-BAD5D5FB7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ar-SA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7C406-A8BA-CE86-E797-F792025EE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ar-SA" dirty="0"/>
              <a:t> ✔ Offline transactions</a:t>
            </a:r>
          </a:p>
          <a:p>
            <a:pPr algn="l" rtl="0"/>
            <a:r>
              <a:rPr lang="ar-SA" dirty="0"/>
              <a:t> ✔ Secure synchronization</a:t>
            </a:r>
          </a:p>
          <a:p>
            <a:pPr algn="l" rtl="0"/>
            <a:r>
              <a:rPr lang="ar-SA" dirty="0"/>
              <a:t> ✔ Budget management</a:t>
            </a:r>
          </a:p>
          <a:p>
            <a:pPr algn="l" rtl="0"/>
            <a:r>
              <a:rPr lang="ar-SA" dirty="0"/>
              <a:t> ✔ AI prediction</a:t>
            </a:r>
          </a:p>
          <a:p>
            <a:pPr algn="l" rtl="0"/>
            <a:r>
              <a:rPr lang="ar-SA" dirty="0"/>
              <a:t> ✔ Fast performance</a:t>
            </a:r>
          </a:p>
          <a:p>
            <a:pPr algn="l" rtl="0"/>
            <a:r>
              <a:rPr lang="ar-SA" dirty="0"/>
              <a:t> ✔ PDF reports</a:t>
            </a:r>
          </a:p>
          <a:p>
            <a:pPr algn="l" rtl="0"/>
            <a:r>
              <a:rPr lang="ar-SA" dirty="0"/>
              <a:t> ✔ Excel reports</a:t>
            </a:r>
          </a:p>
          <a:p>
            <a:pPr algn="l" rtl="0"/>
            <a:r>
              <a:rPr lang="ar-SA" dirty="0"/>
              <a:t> ✔ Cross-platform</a:t>
            </a:r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751875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0BC7F-2E2F-9CD3-B779-2CD7A1184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ar-SA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63A22-35F4-F21A-B911-B3EF63028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2420376"/>
          </a:xfrm>
        </p:spPr>
        <p:txBody>
          <a:bodyPr/>
          <a:lstStyle/>
          <a:p>
            <a:pPr algn="l" rtl="0"/>
            <a:r>
              <a:rPr lang="ar-SA" dirty="0"/>
              <a:t>Developed a complete intelligent finance management application. </a:t>
            </a:r>
          </a:p>
          <a:p>
            <a:pPr algn="l" rtl="0"/>
            <a:r>
              <a:rPr lang="ar-SA" dirty="0"/>
              <a:t>Local-</a:t>
            </a:r>
            <a:r>
              <a:rPr lang="ar-SA" dirty="0" err="1"/>
              <a:t>first</a:t>
            </a:r>
            <a:r>
              <a:rPr lang="ar-SA" dirty="0"/>
              <a:t> architecture ensures reliability. </a:t>
            </a:r>
          </a:p>
          <a:p>
            <a:pPr algn="l" rtl="0"/>
            <a:r>
              <a:rPr lang="ar-SA" dirty="0"/>
              <a:t>AI improves financial awareness. </a:t>
            </a:r>
          </a:p>
          <a:p>
            <a:pPr algn="l" rtl="0"/>
            <a:r>
              <a:rPr lang="ar-SA" dirty="0"/>
              <a:t>Secure and scalable system. </a:t>
            </a:r>
          </a:p>
          <a:p>
            <a:pPr algn="l" rtl="0"/>
            <a:r>
              <a:rPr lang="ar-SA" dirty="0"/>
              <a:t>High performance using Flutter.</a:t>
            </a:r>
          </a:p>
        </p:txBody>
      </p:sp>
    </p:spTree>
    <p:extLst>
      <p:ext uri="{BB962C8B-B14F-4D97-AF65-F5344CB8AC3E}">
        <p14:creationId xmlns:p14="http://schemas.microsoft.com/office/powerpoint/2010/main" val="3882445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FD5BB-9E80-ECE9-FC30-8C444C9D2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ar-SA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D32FF-5BAC-68C9-99D7-350E51909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ar-SA" dirty="0"/>
              <a:t>OCR receipt scanning </a:t>
            </a:r>
          </a:p>
          <a:p>
            <a:pPr algn="l" rtl="0"/>
            <a:r>
              <a:rPr lang="ar-SA" dirty="0"/>
              <a:t>Bank API integration </a:t>
            </a:r>
          </a:p>
          <a:p>
            <a:pPr algn="l" rtl="0"/>
            <a:r>
              <a:rPr lang="ar-SA" dirty="0"/>
              <a:t>Investment tracking </a:t>
            </a:r>
          </a:p>
          <a:p>
            <a:pPr algn="l" rtl="0"/>
            <a:r>
              <a:rPr lang="ar-SA" dirty="0"/>
              <a:t>Machine Learning models </a:t>
            </a:r>
          </a:p>
          <a:p>
            <a:pPr algn="l" rtl="0"/>
            <a:r>
              <a:rPr lang="ar-SA" dirty="0"/>
              <a:t>Voice assistant </a:t>
            </a:r>
          </a:p>
          <a:p>
            <a:pPr algn="l" rtl="0"/>
            <a:r>
              <a:rPr lang="ar-SA" dirty="0"/>
              <a:t>Web version </a:t>
            </a:r>
          </a:p>
          <a:p>
            <a:pPr algn="l" rtl="0"/>
            <a:r>
              <a:rPr lang="ar-SA" dirty="0"/>
              <a:t>Desktop version</a:t>
            </a:r>
          </a:p>
        </p:txBody>
      </p:sp>
    </p:spTree>
    <p:extLst>
      <p:ext uri="{BB962C8B-B14F-4D97-AF65-F5344CB8AC3E}">
        <p14:creationId xmlns:p14="http://schemas.microsoft.com/office/powerpoint/2010/main" val="537282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63A8C-0CFE-086E-0053-56C26BF0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09" y="510989"/>
            <a:ext cx="8596668" cy="1320800"/>
          </a:xfrm>
        </p:spPr>
        <p:txBody>
          <a:bodyPr/>
          <a:lstStyle/>
          <a:p>
            <a:pPr algn="ctr" rtl="0"/>
            <a:r>
              <a:rPr lang="ar-SA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A4AFD-573C-668F-3A2D-1851D9177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67" y="2953894"/>
            <a:ext cx="3498228" cy="950212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ar-SA" sz="54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6651831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</TotalTime>
  <Words>386</Words>
  <Application>Microsoft Office PowerPoint</Application>
  <PresentationFormat>Widescreen</PresentationFormat>
  <Paragraphs>194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Trebuchet MS</vt:lpstr>
      <vt:lpstr>Wingdings</vt:lpstr>
      <vt:lpstr>Wingdings 3</vt:lpstr>
      <vt:lpstr>Facet</vt:lpstr>
      <vt:lpstr>SpendWise Intelligent Personal Finance Management System</vt:lpstr>
      <vt:lpstr>Project Background</vt:lpstr>
      <vt:lpstr>Problem Statement</vt:lpstr>
      <vt:lpstr>Motivation &amp; Objectives</vt:lpstr>
      <vt:lpstr>Related Work</vt:lpstr>
      <vt:lpstr>Methodology XP Lifecycle </vt:lpstr>
      <vt:lpstr>System Users</vt:lpstr>
      <vt:lpstr>System Architecture</vt:lpstr>
      <vt:lpstr>ER Diagram</vt:lpstr>
      <vt:lpstr>Sequence Diagram</vt:lpstr>
      <vt:lpstr>Technology Stack</vt:lpstr>
      <vt:lpstr>Core Features</vt:lpstr>
      <vt:lpstr>AI Advisor</vt:lpstr>
      <vt:lpstr>Security</vt:lpstr>
      <vt:lpstr>Application Screens</vt:lpstr>
      <vt:lpstr>Results</vt:lpstr>
      <vt:lpstr>Conclusion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khaled ayoub</dc:creator>
  <cp:lastModifiedBy>khaled ayoub</cp:lastModifiedBy>
  <cp:revision>3</cp:revision>
  <dcterms:created xsi:type="dcterms:W3CDTF">2026-06-28T13:00:37Z</dcterms:created>
  <dcterms:modified xsi:type="dcterms:W3CDTF">2026-06-29T13:51:45Z</dcterms:modified>
</cp:coreProperties>
</file>